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4" r:id="rId3"/>
    <p:sldId id="277" r:id="rId4"/>
    <p:sldId id="273" r:id="rId5"/>
    <p:sldId id="276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599" autoAdjust="0"/>
  </p:normalViewPr>
  <p:slideViewPr>
    <p:cSldViewPr showGuides="1">
      <p:cViewPr varScale="1">
        <p:scale>
          <a:sx n="75" d="100"/>
          <a:sy n="75" d="100"/>
        </p:scale>
        <p:origin x="544" y="160"/>
      </p:cViewPr>
      <p:guideLst>
        <p:guide orient="horz" pos="2191"/>
        <p:guide pos="28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A7C833-AF70-4EC8-A834-BFE62EF92EE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034AB19-C9E5-4B16-AAC1-CE26F69CA4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4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Adventure Works</a:t>
          </a:r>
          <a:endParaRPr lang="en-US" sz="4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8D9347-23AA-4E4F-BC91-B8DE326D3DFF}" type="parTrans" cxnId="{9E683D2A-1B1F-4E70-8E4E-0928E6E99596}">
      <dgm:prSet/>
      <dgm:spPr/>
      <dgm:t>
        <a:bodyPr/>
        <a:lstStyle/>
        <a:p>
          <a:endParaRPr lang="en-US"/>
        </a:p>
      </dgm:t>
    </dgm:pt>
    <dgm:pt modelId="{8EEBCEF1-0E6C-48D4-ACD4-0D55B3521DBD}" type="sibTrans" cxnId="{9E683D2A-1B1F-4E70-8E4E-0928E6E99596}">
      <dgm:prSet/>
      <dgm:spPr/>
      <dgm:t>
        <a:bodyPr/>
        <a:lstStyle/>
        <a:p>
          <a:endParaRPr lang="en-US"/>
        </a:p>
      </dgm:t>
    </dgm:pt>
    <dgm:pt modelId="{22C79388-9124-4309-AAEF-9AFB4A6234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44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Insights into Production Scrap and Sales Orders &amp; Business Optimization Strategies</a:t>
          </a:r>
          <a:endParaRPr lang="en-US" sz="4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47C1E6-93E1-41C9-AB4D-62EEA55C3829}" type="parTrans" cxnId="{7D2F1833-4377-4EF6-980F-4F2AE7BAF584}">
      <dgm:prSet/>
      <dgm:spPr/>
      <dgm:t>
        <a:bodyPr/>
        <a:lstStyle/>
        <a:p>
          <a:endParaRPr lang="en-US"/>
        </a:p>
      </dgm:t>
    </dgm:pt>
    <dgm:pt modelId="{9F397024-AA02-4BD7-B499-7D6DD4BFAF29}" type="sibTrans" cxnId="{7D2F1833-4377-4EF6-980F-4F2AE7BAF584}">
      <dgm:prSet/>
      <dgm:spPr/>
      <dgm:t>
        <a:bodyPr/>
        <a:lstStyle/>
        <a:p>
          <a:endParaRPr lang="en-US"/>
        </a:p>
      </dgm:t>
    </dgm:pt>
    <dgm:pt modelId="{2A03F129-CB16-4B5F-A102-5E295B6C9C11}" type="pres">
      <dgm:prSet presAssocID="{4AA7C833-AF70-4EC8-A834-BFE62EF92EEE}" presName="root" presStyleCnt="0">
        <dgm:presLayoutVars>
          <dgm:dir/>
          <dgm:resizeHandles val="exact"/>
        </dgm:presLayoutVars>
      </dgm:prSet>
      <dgm:spPr/>
    </dgm:pt>
    <dgm:pt modelId="{91CC5F85-FFF9-4A29-95CE-C3FDB9E72A2A}" type="pres">
      <dgm:prSet presAssocID="{8034AB19-C9E5-4B16-AAC1-CE26F69CA479}" presName="compNode" presStyleCnt="0"/>
      <dgm:spPr/>
    </dgm:pt>
    <dgm:pt modelId="{79C07283-829F-4815-BD59-721E788A96A9}" type="pres">
      <dgm:prSet presAssocID="{8034AB19-C9E5-4B16-AAC1-CE26F69CA479}" presName="bgRect" presStyleLbl="bgShp" presStyleIdx="0" presStyleCnt="2"/>
      <dgm:spPr/>
    </dgm:pt>
    <dgm:pt modelId="{0D2E5A14-B558-4E12-A437-2FA011101F45}" type="pres">
      <dgm:prSet presAssocID="{8034AB19-C9E5-4B16-AAC1-CE26F69CA47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远足"/>
        </a:ext>
      </dgm:extLst>
    </dgm:pt>
    <dgm:pt modelId="{36B2281D-08B5-4FBD-80C8-5DF41CB3F147}" type="pres">
      <dgm:prSet presAssocID="{8034AB19-C9E5-4B16-AAC1-CE26F69CA479}" presName="spaceRect" presStyleCnt="0"/>
      <dgm:spPr/>
    </dgm:pt>
    <dgm:pt modelId="{00A79841-653A-46E3-A458-5CB02E8A0A80}" type="pres">
      <dgm:prSet presAssocID="{8034AB19-C9E5-4B16-AAC1-CE26F69CA479}" presName="parTx" presStyleLbl="revTx" presStyleIdx="0" presStyleCnt="2">
        <dgm:presLayoutVars>
          <dgm:chMax val="0"/>
          <dgm:chPref val="0"/>
        </dgm:presLayoutVars>
      </dgm:prSet>
      <dgm:spPr/>
    </dgm:pt>
    <dgm:pt modelId="{3E0BC4EC-812D-4A73-8F69-1089AEEFE760}" type="pres">
      <dgm:prSet presAssocID="{8EEBCEF1-0E6C-48D4-ACD4-0D55B3521DBD}" presName="sibTrans" presStyleCnt="0"/>
      <dgm:spPr/>
    </dgm:pt>
    <dgm:pt modelId="{FAB323F9-6393-49B0-BE4C-25D26E80A13B}" type="pres">
      <dgm:prSet presAssocID="{22C79388-9124-4309-AAEF-9AFB4A6234A9}" presName="compNode" presStyleCnt="0"/>
      <dgm:spPr/>
    </dgm:pt>
    <dgm:pt modelId="{885CA5D1-95EB-4592-A8C9-5D0F70D3485E}" type="pres">
      <dgm:prSet presAssocID="{22C79388-9124-4309-AAEF-9AFB4A6234A9}" presName="bgRect" presStyleLbl="bgShp" presStyleIdx="1" presStyleCnt="2"/>
      <dgm:spPr/>
    </dgm:pt>
    <dgm:pt modelId="{D18F6E55-19C4-4143-A549-020E41D6200C}" type="pres">
      <dgm:prSet presAssocID="{22C79388-9124-4309-AAEF-9AFB4A6234A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D31E71EA-6819-40E5-B631-422EDCF4B558}" type="pres">
      <dgm:prSet presAssocID="{22C79388-9124-4309-AAEF-9AFB4A6234A9}" presName="spaceRect" presStyleCnt="0"/>
      <dgm:spPr/>
    </dgm:pt>
    <dgm:pt modelId="{E3AC6751-108A-4682-B704-E0CBE14EA738}" type="pres">
      <dgm:prSet presAssocID="{22C79388-9124-4309-AAEF-9AFB4A6234A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E683D2A-1B1F-4E70-8E4E-0928E6E99596}" srcId="{4AA7C833-AF70-4EC8-A834-BFE62EF92EEE}" destId="{8034AB19-C9E5-4B16-AAC1-CE26F69CA479}" srcOrd="0" destOrd="0" parTransId="{BA8D9347-23AA-4E4F-BC91-B8DE326D3DFF}" sibTransId="{8EEBCEF1-0E6C-48D4-ACD4-0D55B3521DBD}"/>
    <dgm:cxn modelId="{7D2F1833-4377-4EF6-980F-4F2AE7BAF584}" srcId="{4AA7C833-AF70-4EC8-A834-BFE62EF92EEE}" destId="{22C79388-9124-4309-AAEF-9AFB4A6234A9}" srcOrd="1" destOrd="0" parTransId="{D747C1E6-93E1-41C9-AB4D-62EEA55C3829}" sibTransId="{9F397024-AA02-4BD7-B499-7D6DD4BFAF29}"/>
    <dgm:cxn modelId="{D6472046-A977-4AA0-B51B-5DB88A18D22B}" type="presOf" srcId="{22C79388-9124-4309-AAEF-9AFB4A6234A9}" destId="{E3AC6751-108A-4682-B704-E0CBE14EA738}" srcOrd="0" destOrd="0" presId="urn:microsoft.com/office/officeart/2018/2/layout/IconVerticalSolidList"/>
    <dgm:cxn modelId="{E0F3D16F-F13B-4BC4-A0D9-A061AAAA4436}" type="presOf" srcId="{8034AB19-C9E5-4B16-AAC1-CE26F69CA479}" destId="{00A79841-653A-46E3-A458-5CB02E8A0A80}" srcOrd="0" destOrd="0" presId="urn:microsoft.com/office/officeart/2018/2/layout/IconVerticalSolidList"/>
    <dgm:cxn modelId="{F0302CC8-A8FC-44F1-8C92-D8A67C449738}" type="presOf" srcId="{4AA7C833-AF70-4EC8-A834-BFE62EF92EEE}" destId="{2A03F129-CB16-4B5F-A102-5E295B6C9C11}" srcOrd="0" destOrd="0" presId="urn:microsoft.com/office/officeart/2018/2/layout/IconVerticalSolidList"/>
    <dgm:cxn modelId="{AA6AC089-C980-48F4-BA4E-44791A1CE5C6}" type="presParOf" srcId="{2A03F129-CB16-4B5F-A102-5E295B6C9C11}" destId="{91CC5F85-FFF9-4A29-95CE-C3FDB9E72A2A}" srcOrd="0" destOrd="0" presId="urn:microsoft.com/office/officeart/2018/2/layout/IconVerticalSolidList"/>
    <dgm:cxn modelId="{4277AF8A-122D-4506-A1D6-A6FE6C1B085D}" type="presParOf" srcId="{91CC5F85-FFF9-4A29-95CE-C3FDB9E72A2A}" destId="{79C07283-829F-4815-BD59-721E788A96A9}" srcOrd="0" destOrd="0" presId="urn:microsoft.com/office/officeart/2018/2/layout/IconVerticalSolidList"/>
    <dgm:cxn modelId="{9D76503F-9C4B-4DCB-BD5A-CE244FC0EC4D}" type="presParOf" srcId="{91CC5F85-FFF9-4A29-95CE-C3FDB9E72A2A}" destId="{0D2E5A14-B558-4E12-A437-2FA011101F45}" srcOrd="1" destOrd="0" presId="urn:microsoft.com/office/officeart/2018/2/layout/IconVerticalSolidList"/>
    <dgm:cxn modelId="{354358F6-0D1B-44AE-AF09-328E55299787}" type="presParOf" srcId="{91CC5F85-FFF9-4A29-95CE-C3FDB9E72A2A}" destId="{36B2281D-08B5-4FBD-80C8-5DF41CB3F147}" srcOrd="2" destOrd="0" presId="urn:microsoft.com/office/officeart/2018/2/layout/IconVerticalSolidList"/>
    <dgm:cxn modelId="{60F1523B-8346-477C-95DB-6954445F429A}" type="presParOf" srcId="{91CC5F85-FFF9-4A29-95CE-C3FDB9E72A2A}" destId="{00A79841-653A-46E3-A458-5CB02E8A0A80}" srcOrd="3" destOrd="0" presId="urn:microsoft.com/office/officeart/2018/2/layout/IconVerticalSolidList"/>
    <dgm:cxn modelId="{279B9F12-E85D-4C79-9A50-43BA7CAFE36A}" type="presParOf" srcId="{2A03F129-CB16-4B5F-A102-5E295B6C9C11}" destId="{3E0BC4EC-812D-4A73-8F69-1089AEEFE760}" srcOrd="1" destOrd="0" presId="urn:microsoft.com/office/officeart/2018/2/layout/IconVerticalSolidList"/>
    <dgm:cxn modelId="{6B7BCDF5-F1EB-4871-97BA-FF5FEC9635CF}" type="presParOf" srcId="{2A03F129-CB16-4B5F-A102-5E295B6C9C11}" destId="{FAB323F9-6393-49B0-BE4C-25D26E80A13B}" srcOrd="2" destOrd="0" presId="urn:microsoft.com/office/officeart/2018/2/layout/IconVerticalSolidList"/>
    <dgm:cxn modelId="{04A4CFAF-6FB3-4581-95BB-26562AFABF5A}" type="presParOf" srcId="{FAB323F9-6393-49B0-BE4C-25D26E80A13B}" destId="{885CA5D1-95EB-4592-A8C9-5D0F70D3485E}" srcOrd="0" destOrd="0" presId="urn:microsoft.com/office/officeart/2018/2/layout/IconVerticalSolidList"/>
    <dgm:cxn modelId="{473464FD-0B3D-40FD-9386-79691F52BF0F}" type="presParOf" srcId="{FAB323F9-6393-49B0-BE4C-25D26E80A13B}" destId="{D18F6E55-19C4-4143-A549-020E41D6200C}" srcOrd="1" destOrd="0" presId="urn:microsoft.com/office/officeart/2018/2/layout/IconVerticalSolidList"/>
    <dgm:cxn modelId="{D9B5503A-9E2E-4D71-889F-075695A76B16}" type="presParOf" srcId="{FAB323F9-6393-49B0-BE4C-25D26E80A13B}" destId="{D31E71EA-6819-40E5-B631-422EDCF4B558}" srcOrd="2" destOrd="0" presId="urn:microsoft.com/office/officeart/2018/2/layout/IconVerticalSolidList"/>
    <dgm:cxn modelId="{F1732FFD-10DA-4BBE-BCF1-B1840E45D8E6}" type="presParOf" srcId="{FAB323F9-6393-49B0-BE4C-25D26E80A13B}" destId="{E3AC6751-108A-4682-B704-E0CBE14EA7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07283-829F-4815-BD59-721E788A96A9}">
      <dsp:nvSpPr>
        <dsp:cNvPr id="0" name=""/>
        <dsp:cNvSpPr/>
      </dsp:nvSpPr>
      <dsp:spPr>
        <a:xfrm>
          <a:off x="0" y="233282"/>
          <a:ext cx="15277465" cy="1583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2E5A14-B558-4E12-A437-2FA011101F45}">
      <dsp:nvSpPr>
        <dsp:cNvPr id="0" name=""/>
        <dsp:cNvSpPr/>
      </dsp:nvSpPr>
      <dsp:spPr>
        <a:xfrm>
          <a:off x="479118" y="589651"/>
          <a:ext cx="871124" cy="8711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A79841-653A-46E3-A458-5CB02E8A0A80}">
      <dsp:nvSpPr>
        <dsp:cNvPr id="0" name=""/>
        <dsp:cNvSpPr/>
      </dsp:nvSpPr>
      <dsp:spPr>
        <a:xfrm>
          <a:off x="1829361" y="233282"/>
          <a:ext cx="13448103" cy="1583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25" tIns="167625" rIns="167625" bIns="16762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Adventure Works</a:t>
          </a:r>
          <a:endParaRPr lang="en-US" sz="4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9361" y="233282"/>
        <a:ext cx="13448103" cy="1583862"/>
      </dsp:txXfrm>
    </dsp:sp>
    <dsp:sp modelId="{885CA5D1-95EB-4592-A8C9-5D0F70D3485E}">
      <dsp:nvSpPr>
        <dsp:cNvPr id="0" name=""/>
        <dsp:cNvSpPr/>
      </dsp:nvSpPr>
      <dsp:spPr>
        <a:xfrm>
          <a:off x="0" y="2111816"/>
          <a:ext cx="15277465" cy="158386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F6E55-19C4-4143-A549-020E41D6200C}">
      <dsp:nvSpPr>
        <dsp:cNvPr id="0" name=""/>
        <dsp:cNvSpPr/>
      </dsp:nvSpPr>
      <dsp:spPr>
        <a:xfrm>
          <a:off x="479118" y="2468185"/>
          <a:ext cx="871124" cy="8711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C6751-108A-4682-B704-E0CBE14EA738}">
      <dsp:nvSpPr>
        <dsp:cNvPr id="0" name=""/>
        <dsp:cNvSpPr/>
      </dsp:nvSpPr>
      <dsp:spPr>
        <a:xfrm>
          <a:off x="1829361" y="2111816"/>
          <a:ext cx="13448103" cy="15838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25" tIns="167625" rIns="167625" bIns="167625" numCol="1" spcCol="1270" anchor="ctr" anchorCtr="0">
          <a:noAutofit/>
        </a:bodyPr>
        <a:lstStyle/>
        <a:p>
          <a:pPr marL="0" lvl="0" indent="0" algn="l" defTabSz="1955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Insights into Production Scrap and Sales Orders &amp; Business Optimization Strategies</a:t>
          </a:r>
          <a:endParaRPr lang="en-US" sz="4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29361" y="2111816"/>
        <a:ext cx="13448103" cy="15838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2187" y="0"/>
            <a:ext cx="17254603" cy="10287000"/>
          </a:xfrm>
          <a:custGeom>
            <a:avLst/>
            <a:gdLst/>
            <a:ahLst/>
            <a:cxnLst/>
            <a:rect l="l" t="t" r="r" b="b"/>
            <a:pathLst>
              <a:path w="17254603" h="10287000">
                <a:moveTo>
                  <a:pt x="0" y="0"/>
                </a:moveTo>
                <a:lnTo>
                  <a:pt x="17254603" y="0"/>
                </a:lnTo>
                <a:lnTo>
                  <a:pt x="172546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866" b="-33866"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4" name="AutoShape 4"/>
          <p:cNvSpPr/>
          <p:nvPr/>
        </p:nvSpPr>
        <p:spPr>
          <a:xfrm rot="10788812">
            <a:off x="6400994" y="6519734"/>
            <a:ext cx="2926784" cy="0"/>
          </a:xfrm>
          <a:prstGeom prst="line">
            <a:avLst/>
          </a:prstGeom>
          <a:ln w="9525" cap="rnd">
            <a:solidFill>
              <a:srgbClr val="014EFE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0" y="0"/>
            <a:ext cx="1583532" cy="10287000"/>
            <a:chOff x="0" y="0"/>
            <a:chExt cx="2111376" cy="13716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1375" cy="13716000"/>
            </a:xfrm>
            <a:custGeom>
              <a:avLst/>
              <a:gdLst/>
              <a:ahLst/>
              <a:cxnLst/>
              <a:rect l="l" t="t" r="r" b="b"/>
              <a:pathLst>
                <a:path w="2111375" h="13716000">
                  <a:moveTo>
                    <a:pt x="0" y="0"/>
                  </a:moveTo>
                  <a:lnTo>
                    <a:pt x="2111375" y="0"/>
                  </a:lnTo>
                  <a:lnTo>
                    <a:pt x="211137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AutoShape 10"/>
          <p:cNvSpPr/>
          <p:nvPr/>
        </p:nvSpPr>
        <p:spPr>
          <a:xfrm rot="99518">
            <a:off x="535220" y="883084"/>
            <a:ext cx="658153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AutoShape 11"/>
          <p:cNvSpPr/>
          <p:nvPr/>
        </p:nvSpPr>
        <p:spPr>
          <a:xfrm rot="99518">
            <a:off x="538350" y="998950"/>
            <a:ext cx="658153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AutoShape 12"/>
          <p:cNvSpPr/>
          <p:nvPr/>
        </p:nvSpPr>
        <p:spPr>
          <a:xfrm rot="99518">
            <a:off x="541481" y="1114816"/>
            <a:ext cx="658153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052186" y="8266167"/>
            <a:ext cx="12036805" cy="1033398"/>
            <a:chOff x="0" y="0"/>
            <a:chExt cx="14129358" cy="13778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29386" cy="1377823"/>
            </a:xfrm>
            <a:custGeom>
              <a:avLst/>
              <a:gdLst/>
              <a:ahLst/>
              <a:cxnLst/>
              <a:rect l="l" t="t" r="r" b="b"/>
              <a:pathLst>
                <a:path w="14129386" h="1377823">
                  <a:moveTo>
                    <a:pt x="0" y="0"/>
                  </a:moveTo>
                  <a:lnTo>
                    <a:pt x="14129386" y="0"/>
                  </a:lnTo>
                  <a:lnTo>
                    <a:pt x="14129386" y="1377823"/>
                  </a:lnTo>
                  <a:lnTo>
                    <a:pt x="0" y="1377823"/>
                  </a:lnTo>
                  <a:close/>
                </a:path>
              </a:pathLst>
            </a:custGeom>
            <a:solidFill>
              <a:srgbClr val="FFFFFF">
                <a:alpha val="26667"/>
              </a:srgbClr>
            </a:solidFill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28799" y="8435881"/>
            <a:ext cx="11260215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r>
              <a:rPr lang="en-US" altLang="zh-CN" sz="2400" b="1" spc="561" dirty="0">
                <a:latin typeface="Times New Roman" panose="02020603050405020304" charset="0"/>
                <a:ea typeface="思源黑体 1" panose="020B0500000000000000" charset="-122"/>
                <a:cs typeface="Times New Roman" panose="02020603050405020304" charset="0"/>
                <a:sym typeface="思源黑体 1" panose="020B0500000000000000" charset="-122"/>
              </a:rPr>
              <a:t>In-depth insights based on production and sales data from fiscal years 2012-2014</a:t>
            </a:r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25501D25-7FBB-03FB-7306-435D11DD40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2673325"/>
              </p:ext>
            </p:extLst>
          </p:nvPr>
        </p:nvGraphicFramePr>
        <p:xfrm>
          <a:off x="2306428" y="3179019"/>
          <a:ext cx="15277465" cy="3928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2019300"/>
            <a:ext cx="691515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思源黑体-超粗体" panose="020B0A00000000000000" charset="-122"/>
                <a:cs typeface="Times New Roman" panose="02020603050405020304" pitchFamily="18" charset="0"/>
                <a:sym typeface="思源黑体-超粗体" panose="020B0A00000000000000" charset="-122"/>
              </a:rPr>
              <a:t>Significant Cross-Selling Potential, Product Mix Needs Optimization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616480"/>
            <a:ext cx="67818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altLang="zh-CN" sz="4400" b="1" dirty="0">
                <a:solidFill>
                  <a:srgbClr val="014EFE"/>
                </a:solidFill>
                <a:latin typeface="Times New Roman" panose="02020603050405020304" pitchFamily="18" charset="0"/>
                <a:ea typeface="思源黑体-超粗体" panose="020B0A00000000000000" charset="-122"/>
                <a:cs typeface="Times New Roman" panose="02020603050405020304" pitchFamily="18" charset="0"/>
                <a:sym typeface="思源黑体-超粗体" panose="020B0A00000000000000" charset="-122"/>
              </a:rPr>
              <a:t>Online Retail Performance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65810" y="1409700"/>
            <a:ext cx="3903980" cy="33782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lang="en-US" altLang="zh-CN" sz="1650">
                <a:solidFill>
                  <a:srgbClr val="8497B0"/>
                </a:solidFill>
                <a:latin typeface="Times New Roman" panose="02020603050405020304" pitchFamily="18" charset="0"/>
                <a:ea typeface="Montserrat" panose="00000500000000000000"/>
                <a:cs typeface="Times New Roman" panose="02020603050405020304" pitchFamily="18" charset="0"/>
                <a:sym typeface="Montserrat" panose="00000500000000000000"/>
              </a:rPr>
              <a:t>Online Order Trends Chart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439876" y="2476346"/>
            <a:ext cx="1630094" cy="6202810"/>
            <a:chOff x="0" y="0"/>
            <a:chExt cx="2173458" cy="82704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3478" cy="8270367"/>
            </a:xfrm>
            <a:custGeom>
              <a:avLst/>
              <a:gdLst/>
              <a:ahLst/>
              <a:cxnLst/>
              <a:rect l="l" t="t" r="r" b="b"/>
              <a:pathLst>
                <a:path w="2173478" h="8270367">
                  <a:moveTo>
                    <a:pt x="0" y="0"/>
                  </a:moveTo>
                  <a:lnTo>
                    <a:pt x="2173478" y="0"/>
                  </a:lnTo>
                  <a:lnTo>
                    <a:pt x="2173478" y="8270367"/>
                  </a:lnTo>
                  <a:lnTo>
                    <a:pt x="0" y="8270367"/>
                  </a:lnTo>
                  <a:close/>
                </a:path>
              </a:pathLst>
            </a:custGeom>
            <a:solidFill>
              <a:srgbClr val="CCDCFF">
                <a:alpha val="26667"/>
              </a:srgbClr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336298" y="2109788"/>
            <a:ext cx="8322927" cy="6931819"/>
            <a:chOff x="0" y="0"/>
            <a:chExt cx="11097236" cy="9242426"/>
          </a:xfrm>
        </p:grpSpPr>
        <p:sp>
          <p:nvSpPr>
            <p:cNvPr id="10" name="Freeform 10"/>
            <p:cNvSpPr/>
            <p:nvPr/>
          </p:nvSpPr>
          <p:spPr>
            <a:xfrm>
              <a:off x="12700" y="12700"/>
              <a:ext cx="11071860" cy="9217025"/>
            </a:xfrm>
            <a:custGeom>
              <a:avLst/>
              <a:gdLst/>
              <a:ahLst/>
              <a:cxnLst/>
              <a:rect l="l" t="t" r="r" b="b"/>
              <a:pathLst>
                <a:path w="11071860" h="9217025">
                  <a:moveTo>
                    <a:pt x="0" y="0"/>
                  </a:moveTo>
                  <a:lnTo>
                    <a:pt x="11071860" y="0"/>
                  </a:lnTo>
                  <a:lnTo>
                    <a:pt x="11071860" y="9217025"/>
                  </a:lnTo>
                  <a:lnTo>
                    <a:pt x="0" y="9217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11097260" cy="9242425"/>
            </a:xfrm>
            <a:custGeom>
              <a:avLst/>
              <a:gdLst/>
              <a:ahLst/>
              <a:cxnLst/>
              <a:rect l="l" t="t" r="r" b="b"/>
              <a:pathLst>
                <a:path w="11097260" h="9242425">
                  <a:moveTo>
                    <a:pt x="12700" y="0"/>
                  </a:moveTo>
                  <a:lnTo>
                    <a:pt x="11084560" y="0"/>
                  </a:lnTo>
                  <a:cubicBezTo>
                    <a:pt x="11091545" y="0"/>
                    <a:pt x="11097260" y="5715"/>
                    <a:pt x="11097260" y="12700"/>
                  </a:cubicBezTo>
                  <a:lnTo>
                    <a:pt x="11097260" y="9229725"/>
                  </a:lnTo>
                  <a:cubicBezTo>
                    <a:pt x="11097260" y="9236710"/>
                    <a:pt x="11091545" y="9242425"/>
                    <a:pt x="11084560" y="9242425"/>
                  </a:cubicBezTo>
                  <a:lnTo>
                    <a:pt x="12700" y="9242425"/>
                  </a:lnTo>
                  <a:cubicBezTo>
                    <a:pt x="5715" y="9242425"/>
                    <a:pt x="0" y="9236710"/>
                    <a:pt x="0" y="9229725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9229725"/>
                  </a:lnTo>
                  <a:lnTo>
                    <a:pt x="12700" y="9229725"/>
                  </a:lnTo>
                  <a:lnTo>
                    <a:pt x="12700" y="9217025"/>
                  </a:lnTo>
                  <a:lnTo>
                    <a:pt x="11084560" y="9217025"/>
                  </a:lnTo>
                  <a:lnTo>
                    <a:pt x="11084560" y="9229725"/>
                  </a:lnTo>
                  <a:lnTo>
                    <a:pt x="11071860" y="9229725"/>
                  </a:lnTo>
                  <a:lnTo>
                    <a:pt x="11071860" y="12700"/>
                  </a:lnTo>
                  <a:lnTo>
                    <a:pt x="11084560" y="12700"/>
                  </a:lnTo>
                  <a:lnTo>
                    <a:pt x="1108456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AutoShape 26"/>
          <p:cNvSpPr/>
          <p:nvPr/>
        </p:nvSpPr>
        <p:spPr>
          <a:xfrm rot="5502">
            <a:off x="990486" y="3852854"/>
            <a:ext cx="5951199" cy="0"/>
          </a:xfrm>
          <a:prstGeom prst="line">
            <a:avLst/>
          </a:prstGeom>
          <a:ln w="9525" cap="rnd">
            <a:solidFill>
              <a:srgbClr val="4454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27"/>
          <p:cNvSpPr/>
          <p:nvPr/>
        </p:nvSpPr>
        <p:spPr>
          <a:xfrm rot="5502">
            <a:off x="990486" y="9415454"/>
            <a:ext cx="5951199" cy="0"/>
          </a:xfrm>
          <a:prstGeom prst="line">
            <a:avLst/>
          </a:prstGeom>
          <a:ln w="9525" cap="rnd">
            <a:solidFill>
              <a:srgbClr val="4454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图片 1" descr="图1-OnlineOrderTrend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36775"/>
            <a:ext cx="9501505" cy="645287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696311" y="4341833"/>
            <a:ext cx="7217978" cy="45846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of orders only include bicycles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"Bicycles + Accessories" most popular (25%)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combinations performed relatively weak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shows bicycles drive all combination sales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898E4-4D88-3A29-E215-A447E41C3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26E831-17B7-E067-4FF2-F7F90AC9C949}"/>
              </a:ext>
            </a:extLst>
          </p:cNvPr>
          <p:cNvSpPr txBox="1"/>
          <p:nvPr/>
        </p:nvSpPr>
        <p:spPr>
          <a:xfrm>
            <a:off x="914400" y="2019300"/>
            <a:ext cx="691515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altLang="zh-CN" sz="3600" b="1" dirty="0">
                <a:latin typeface="Times New Roman" panose="02020603050405020304" pitchFamily="18" charset="0"/>
                <a:ea typeface="思源黑体-超粗体" panose="020B0A00000000000000" charset="-122"/>
                <a:cs typeface="Times New Roman" panose="02020603050405020304" pitchFamily="18" charset="0"/>
                <a:sym typeface="思源黑体-超粗体" panose="020B0A00000000000000" charset="-122"/>
              </a:rPr>
              <a:t>Significant Cross-Selling Potential, Product Mix Needs Optimization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CE9F56B-3A4D-6EC7-7EDA-82F19DBC969B}"/>
              </a:ext>
            </a:extLst>
          </p:cNvPr>
          <p:cNvSpPr txBox="1"/>
          <p:nvPr/>
        </p:nvSpPr>
        <p:spPr>
          <a:xfrm>
            <a:off x="914399" y="616480"/>
            <a:ext cx="7217977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altLang="zh-CN" sz="4400" b="1" dirty="0">
                <a:solidFill>
                  <a:srgbClr val="014EFE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sym typeface="思源黑体-超粗体" panose="020B0A00000000000000" charset="-122"/>
              </a:rPr>
              <a:t>Customer Purchase Patterns</a:t>
            </a: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A32BBCC0-B3D0-1CBD-C9C8-E5EC6B1441E6}"/>
              </a:ext>
            </a:extLst>
          </p:cNvPr>
          <p:cNvSpPr/>
          <p:nvPr/>
        </p:nvSpPr>
        <p:spPr>
          <a:xfrm rot="5502">
            <a:off x="990486" y="3852854"/>
            <a:ext cx="5951199" cy="0"/>
          </a:xfrm>
          <a:prstGeom prst="line">
            <a:avLst/>
          </a:prstGeom>
          <a:ln w="9525" cap="rnd">
            <a:solidFill>
              <a:srgbClr val="4454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0C0D66B4-B32F-D73F-E5D0-883F4E3BF657}"/>
              </a:ext>
            </a:extLst>
          </p:cNvPr>
          <p:cNvSpPr/>
          <p:nvPr/>
        </p:nvSpPr>
        <p:spPr>
          <a:xfrm rot="5502">
            <a:off x="990486" y="9415454"/>
            <a:ext cx="5951199" cy="0"/>
          </a:xfrm>
          <a:prstGeom prst="line">
            <a:avLst/>
          </a:prstGeom>
          <a:ln w="9525" cap="rnd">
            <a:solidFill>
              <a:srgbClr val="44546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BDAE48-C7AE-8186-09FD-9717CD20704E}"/>
              </a:ext>
            </a:extLst>
          </p:cNvPr>
          <p:cNvSpPr txBox="1"/>
          <p:nvPr/>
        </p:nvSpPr>
        <p:spPr>
          <a:xfrm>
            <a:off x="611572" y="4341833"/>
            <a:ext cx="7217978" cy="458464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45% of orders only include bicycles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"Bicycles + Accessories" most popular (25%)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combinations performed relatively weak</a:t>
            </a:r>
            <a:b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 shows bicycles drive all combination sales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D3A0F-AB37-E6E6-D9ED-88A17FF7EA44}"/>
              </a:ext>
            </a:extLst>
          </p:cNvPr>
          <p:cNvSpPr txBox="1"/>
          <p:nvPr/>
        </p:nvSpPr>
        <p:spPr>
          <a:xfrm>
            <a:off x="8558972" y="1048015"/>
            <a:ext cx="8909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sym typeface="Montserrat" panose="00000500000000000000"/>
              </a:rPr>
              <a:t> Product Combination Heatmap + Product Mix Distribution Pie Chart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FDDE51-DA11-9B0A-1A0F-37B7A0349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2467" y="1509680"/>
            <a:ext cx="7722870" cy="4942840"/>
          </a:xfrm>
          <a:prstGeom prst="rect">
            <a:avLst/>
          </a:prstGeom>
        </p:spPr>
      </p:pic>
      <p:pic>
        <p:nvPicPr>
          <p:cNvPr id="13" name="图片 3" descr="图3-ProductCombinationHeatmap">
            <a:extLst>
              <a:ext uri="{FF2B5EF4-FFF2-40B4-BE49-F238E27FC236}">
                <a16:creationId xmlns:a16="http://schemas.microsoft.com/office/drawing/2014/main" id="{583D8A22-A7A2-E76C-AE6C-327C34F3A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822" y="6634153"/>
            <a:ext cx="9926955" cy="325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14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2231406" y="6782945"/>
            <a:ext cx="1588131" cy="1589503"/>
          </a:xfrm>
          <a:custGeom>
            <a:avLst/>
            <a:gdLst/>
            <a:ahLst/>
            <a:cxnLst/>
            <a:rect l="l" t="t" r="r" b="b"/>
            <a:pathLst>
              <a:path w="1588131" h="1589503">
                <a:moveTo>
                  <a:pt x="0" y="0"/>
                </a:moveTo>
                <a:lnTo>
                  <a:pt x="1588132" y="0"/>
                </a:lnTo>
                <a:lnTo>
                  <a:pt x="1588132" y="1589503"/>
                </a:lnTo>
                <a:lnTo>
                  <a:pt x="0" y="1589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/>
          </a:p>
        </p:txBody>
      </p:sp>
      <p:sp>
        <p:nvSpPr>
          <p:cNvPr id="6" name="TextBox 6"/>
          <p:cNvSpPr txBox="1"/>
          <p:nvPr/>
        </p:nvSpPr>
        <p:spPr>
          <a:xfrm>
            <a:off x="637815" y="1144747"/>
            <a:ext cx="7008579" cy="1018853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lang="en-US" altLang="zh-CN" sz="3200" b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思源黑体-超粗体" panose="020B0A00000000000000" charset="-122"/>
                <a:cs typeface="Times New Roman" panose="02020603050405020304" pitchFamily="18" charset="0"/>
                <a:sym typeface="思源黑体-超粗体" panose="020B0A00000000000000" charset="-122"/>
              </a:rPr>
              <a:t>Low Non-Core Category Penetration, Clear Improvement Room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92874" y="3886910"/>
            <a:ext cx="7900392" cy="2990796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b="1" dirty="0">
                <a:latin typeface="Times New Roman" panose="02020603050405020304" charset="0"/>
                <a:ea typeface="思源黑体 1" panose="020B0500000000000000" charset="-122"/>
                <a:cs typeface="Times New Roman" panose="02020603050405020304" charset="0"/>
                <a:sym typeface="思源黑体 1" panose="020B0500000000000000" charset="-122"/>
              </a:rPr>
              <a:t>Accessories penetration only 31.5%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b="1" dirty="0">
                <a:latin typeface="Times New Roman" panose="02020603050405020304" charset="0"/>
                <a:ea typeface="思源黑体 1" panose="020B0500000000000000" charset="-122"/>
                <a:cs typeface="Times New Roman" panose="02020603050405020304" charset="0"/>
                <a:sym typeface="思源黑体 1" panose="020B0500000000000000" charset="-122"/>
              </a:rPr>
              <a:t>Clothing penetration only 28.8%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b="1" dirty="0">
                <a:latin typeface="Times New Roman" panose="02020603050405020304" charset="0"/>
                <a:ea typeface="思源黑体 1" panose="020B0500000000000000" charset="-122"/>
                <a:cs typeface="Times New Roman" panose="02020603050405020304" charset="0"/>
                <a:sym typeface="思源黑体 1" panose="020B0500000000000000" charset="-122"/>
              </a:rPr>
              <a:t>Components penetration only 25.7%</a:t>
            </a: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en-US" altLang="zh-CN" sz="3200" b="1" dirty="0">
                <a:latin typeface="Times New Roman" panose="02020603050405020304" charset="0"/>
                <a:ea typeface="思源黑体 1" panose="020B0500000000000000" charset="-122"/>
                <a:cs typeface="Times New Roman" panose="02020603050405020304" charset="0"/>
                <a:sym typeface="思源黑体 1" panose="020B0500000000000000" charset="-122"/>
              </a:rPr>
              <a:t>Far below bicycles' 100% penetration rate</a:t>
            </a:r>
            <a:endParaRPr lang="en-US" altLang="zh-CN" sz="2800" dirty="0">
              <a:latin typeface="Times New Roman" panose="02020603050405020304" charset="0"/>
              <a:ea typeface="思源黑体 1" panose="020B0500000000000000" charset="-122"/>
              <a:cs typeface="Times New Roman" panose="02020603050405020304" charset="0"/>
              <a:sym typeface="思源黑体 1" panose="020B05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11421" y="299244"/>
            <a:ext cx="8380179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040"/>
              </a:lnSpc>
              <a:defRPr sz="4400" b="1">
                <a:solidFill>
                  <a:srgbClr val="014EFE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ym typeface="思源黑体-超粗体" panose="020B0A00000000000000" charset="-122"/>
              </a:rPr>
              <a:t>Sales Optimization Opportunities</a:t>
            </a:r>
          </a:p>
        </p:txBody>
      </p:sp>
      <p:sp>
        <p:nvSpPr>
          <p:cNvPr id="16" name="AutoShape 16"/>
          <p:cNvSpPr/>
          <p:nvPr/>
        </p:nvSpPr>
        <p:spPr>
          <a:xfrm rot="7858">
            <a:off x="12059626" y="6882468"/>
            <a:ext cx="4166886" cy="0"/>
          </a:xfrm>
          <a:prstGeom prst="line">
            <a:avLst/>
          </a:prstGeom>
          <a:ln w="9525" cap="rnd">
            <a:solidFill>
              <a:srgbClr val="014EF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" name="图片 4" descr="图4-CategoryPene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3314699"/>
            <a:ext cx="9448799" cy="50577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6E256CB-5623-B598-F9DB-1E318B627A1C}"/>
              </a:ext>
            </a:extLst>
          </p:cNvPr>
          <p:cNvSpPr txBox="1"/>
          <p:nvPr/>
        </p:nvSpPr>
        <p:spPr>
          <a:xfrm>
            <a:off x="2895600" y="2791479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Montserrat" panose="00000500000000000000"/>
                <a:cs typeface="Times New Roman" panose="02020603050405020304" pitchFamily="18" charset="0"/>
                <a:sym typeface="Montserrat" panose="00000500000000000000"/>
              </a:rPr>
              <a:t>Online Order Trends Chart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027348" y="0"/>
            <a:ext cx="8260651" cy="10287000"/>
          </a:xfrm>
          <a:custGeom>
            <a:avLst/>
            <a:gdLst/>
            <a:ahLst/>
            <a:cxnLst/>
            <a:rect l="l" t="t" r="r" b="b"/>
            <a:pathLst>
              <a:path w="8260651" h="10287000">
                <a:moveTo>
                  <a:pt x="0" y="0"/>
                </a:moveTo>
                <a:lnTo>
                  <a:pt x="8260652" y="0"/>
                </a:lnTo>
                <a:lnTo>
                  <a:pt x="82606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91185" y="1388110"/>
            <a:ext cx="7000875" cy="8298815"/>
            <a:chOff x="0" y="0"/>
            <a:chExt cx="4793830" cy="4543808"/>
          </a:xfrm>
        </p:grpSpPr>
        <p:sp>
          <p:nvSpPr>
            <p:cNvPr id="7" name="Freeform 7"/>
            <p:cNvSpPr/>
            <p:nvPr/>
          </p:nvSpPr>
          <p:spPr>
            <a:xfrm>
              <a:off x="12700" y="12700"/>
              <a:ext cx="4768469" cy="4518406"/>
            </a:xfrm>
            <a:custGeom>
              <a:avLst/>
              <a:gdLst/>
              <a:ahLst/>
              <a:cxnLst/>
              <a:rect l="l" t="t" r="r" b="b"/>
              <a:pathLst>
                <a:path w="4768469" h="4518406">
                  <a:moveTo>
                    <a:pt x="0" y="0"/>
                  </a:moveTo>
                  <a:lnTo>
                    <a:pt x="4768469" y="0"/>
                  </a:lnTo>
                  <a:lnTo>
                    <a:pt x="4768469" y="4518406"/>
                  </a:lnTo>
                  <a:lnTo>
                    <a:pt x="0" y="45184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4793869" cy="4543806"/>
            </a:xfrm>
            <a:custGeom>
              <a:avLst/>
              <a:gdLst/>
              <a:ahLst/>
              <a:cxnLst/>
              <a:rect l="l" t="t" r="r" b="b"/>
              <a:pathLst>
                <a:path w="4793869" h="4543806">
                  <a:moveTo>
                    <a:pt x="12700" y="0"/>
                  </a:moveTo>
                  <a:lnTo>
                    <a:pt x="4781169" y="0"/>
                  </a:lnTo>
                  <a:cubicBezTo>
                    <a:pt x="4788154" y="0"/>
                    <a:pt x="4793869" y="5715"/>
                    <a:pt x="4793869" y="12700"/>
                  </a:cubicBezTo>
                  <a:lnTo>
                    <a:pt x="4793869" y="4531106"/>
                  </a:lnTo>
                  <a:cubicBezTo>
                    <a:pt x="4793869" y="4538091"/>
                    <a:pt x="4788154" y="4543806"/>
                    <a:pt x="4781169" y="4543806"/>
                  </a:cubicBezTo>
                  <a:lnTo>
                    <a:pt x="12700" y="4543806"/>
                  </a:lnTo>
                  <a:cubicBezTo>
                    <a:pt x="5715" y="4543806"/>
                    <a:pt x="0" y="4538091"/>
                    <a:pt x="0" y="453110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531106"/>
                  </a:lnTo>
                  <a:lnTo>
                    <a:pt x="12700" y="4531106"/>
                  </a:lnTo>
                  <a:lnTo>
                    <a:pt x="12700" y="4518406"/>
                  </a:lnTo>
                  <a:lnTo>
                    <a:pt x="4781169" y="4518406"/>
                  </a:lnTo>
                  <a:lnTo>
                    <a:pt x="4781169" y="4531106"/>
                  </a:lnTo>
                  <a:lnTo>
                    <a:pt x="4768469" y="4531106"/>
                  </a:lnTo>
                  <a:lnTo>
                    <a:pt x="4768469" y="12700"/>
                  </a:lnTo>
                  <a:lnTo>
                    <a:pt x="4781169" y="12700"/>
                  </a:lnTo>
                  <a:lnTo>
                    <a:pt x="478116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1752" y="1485751"/>
            <a:ext cx="95986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14EFE"/>
                </a:solidFill>
                <a:latin typeface="Times New Roman" panose="02020603050405020304" pitchFamily="18" charset="0"/>
                <a:ea typeface="Montserrat Ultra-Bold" panose="00000900000000000000"/>
                <a:cs typeface="Times New Roman" panose="02020603050405020304" pitchFamily="18" charset="0"/>
                <a:sym typeface="Montserrat Ultra-Bold" panose="00000900000000000000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2019300"/>
            <a:ext cx="6288405" cy="456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altLang="zh-CN" sz="2400" b="1">
                <a:solidFill>
                  <a:srgbClr val="44546A"/>
                </a:solidFill>
                <a:latin typeface="Times New Roman" panose="02020603050405020304" pitchFamily="18" charset="0"/>
                <a:ea typeface="思源黑体-超粗体" panose="020B0A00000000000000" charset="-122"/>
                <a:cs typeface="Times New Roman" panose="02020603050405020304" pitchFamily="18" charset="0"/>
                <a:sym typeface="思源黑体-超粗体" panose="020B0A00000000000000" charset="-122"/>
              </a:rPr>
              <a:t>"Quality Improvement + Online Marketing"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6789" y="2676623"/>
            <a:ext cx="141189" cy="141189"/>
            <a:chOff x="0" y="0"/>
            <a:chExt cx="188252" cy="1882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94432" y="4205456"/>
            <a:ext cx="95986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014EFE"/>
                </a:solidFill>
                <a:latin typeface="Times New Roman" panose="02020603050405020304" pitchFamily="18" charset="0"/>
                <a:ea typeface="Montserrat Ultra-Bold" panose="00000900000000000000"/>
                <a:cs typeface="Times New Roman" panose="02020603050405020304" pitchFamily="18" charset="0"/>
                <a:sym typeface="Montserrat Ultra-Bold" panose="00000900000000000000"/>
              </a:rPr>
              <a:t>04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3732339" y="5900364"/>
            <a:ext cx="141189" cy="141189"/>
            <a:chOff x="0" y="0"/>
            <a:chExt cx="188252" cy="18825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732339" y="6357423"/>
            <a:ext cx="141189" cy="141189"/>
            <a:chOff x="0" y="0"/>
            <a:chExt cx="188252" cy="18825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10725147" y="303230"/>
            <a:ext cx="6698434" cy="9563735"/>
            <a:chOff x="14545" y="3323"/>
            <a:chExt cx="5678" cy="10853"/>
          </a:xfrm>
        </p:grpSpPr>
        <p:grpSp>
          <p:nvGrpSpPr>
            <p:cNvPr id="41" name="Group 41"/>
            <p:cNvGrpSpPr/>
            <p:nvPr/>
          </p:nvGrpSpPr>
          <p:grpSpPr>
            <a:xfrm>
              <a:off x="14545" y="3323"/>
              <a:ext cx="5662" cy="10853"/>
              <a:chOff x="0" y="0"/>
              <a:chExt cx="4793830" cy="918897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2700" y="12700"/>
                <a:ext cx="4768469" cy="9163558"/>
              </a:xfrm>
              <a:custGeom>
                <a:avLst/>
                <a:gdLst/>
                <a:ahLst/>
                <a:cxnLst/>
                <a:rect l="l" t="t" r="r" b="b"/>
                <a:pathLst>
                  <a:path w="4768469" h="9163558">
                    <a:moveTo>
                      <a:pt x="0" y="0"/>
                    </a:moveTo>
                    <a:lnTo>
                      <a:pt x="4768469" y="0"/>
                    </a:lnTo>
                    <a:lnTo>
                      <a:pt x="4768469" y="9163558"/>
                    </a:lnTo>
                    <a:lnTo>
                      <a:pt x="0" y="9163558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0" y="0"/>
                <a:ext cx="4793869" cy="9188958"/>
              </a:xfrm>
              <a:custGeom>
                <a:avLst/>
                <a:gdLst/>
                <a:ahLst/>
                <a:cxnLst/>
                <a:rect l="l" t="t" r="r" b="b"/>
                <a:pathLst>
                  <a:path w="4793869" h="9188958">
                    <a:moveTo>
                      <a:pt x="12700" y="0"/>
                    </a:moveTo>
                    <a:lnTo>
                      <a:pt x="4781169" y="0"/>
                    </a:lnTo>
                    <a:cubicBezTo>
                      <a:pt x="4788154" y="0"/>
                      <a:pt x="4793869" y="5715"/>
                      <a:pt x="4793869" y="12700"/>
                    </a:cubicBezTo>
                    <a:lnTo>
                      <a:pt x="4793869" y="9176258"/>
                    </a:lnTo>
                    <a:cubicBezTo>
                      <a:pt x="4793869" y="9183243"/>
                      <a:pt x="4788154" y="9188958"/>
                      <a:pt x="4781169" y="9188958"/>
                    </a:cubicBezTo>
                    <a:lnTo>
                      <a:pt x="12700" y="9188958"/>
                    </a:lnTo>
                    <a:cubicBezTo>
                      <a:pt x="5715" y="9188958"/>
                      <a:pt x="0" y="9183243"/>
                      <a:pt x="0" y="9176258"/>
                    </a:cubicBezTo>
                    <a:lnTo>
                      <a:pt x="0" y="12700"/>
                    </a:lnTo>
                    <a:cubicBezTo>
                      <a:pt x="0" y="5715"/>
                      <a:pt x="5715" y="0"/>
                      <a:pt x="12700" y="0"/>
                    </a:cubicBezTo>
                    <a:moveTo>
                      <a:pt x="12700" y="25400"/>
                    </a:moveTo>
                    <a:lnTo>
                      <a:pt x="12700" y="12700"/>
                    </a:lnTo>
                    <a:lnTo>
                      <a:pt x="25400" y="12700"/>
                    </a:lnTo>
                    <a:lnTo>
                      <a:pt x="25400" y="9176258"/>
                    </a:lnTo>
                    <a:lnTo>
                      <a:pt x="12700" y="9176258"/>
                    </a:lnTo>
                    <a:lnTo>
                      <a:pt x="12700" y="9163558"/>
                    </a:lnTo>
                    <a:lnTo>
                      <a:pt x="4781169" y="9163558"/>
                    </a:lnTo>
                    <a:lnTo>
                      <a:pt x="4781169" y="9176258"/>
                    </a:lnTo>
                    <a:lnTo>
                      <a:pt x="4768469" y="9176258"/>
                    </a:lnTo>
                    <a:lnTo>
                      <a:pt x="4768469" y="12700"/>
                    </a:lnTo>
                    <a:lnTo>
                      <a:pt x="4781169" y="12700"/>
                    </a:lnTo>
                    <a:lnTo>
                      <a:pt x="4781169" y="25400"/>
                    </a:lnTo>
                    <a:lnTo>
                      <a:pt x="12700" y="25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4815" y="3509"/>
              <a:ext cx="1512" cy="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14EFE"/>
                  </a:solidFill>
                  <a:latin typeface="Times New Roman" panose="02020603050405020304" pitchFamily="18" charset="0"/>
                  <a:ea typeface="Montserrat Ultra-Bold" panose="00000900000000000000"/>
                  <a:cs typeface="Times New Roman" panose="02020603050405020304" pitchFamily="18" charset="0"/>
                  <a:sym typeface="Montserrat Ultra-Bold" panose="00000900000000000000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751" y="4022"/>
              <a:ext cx="5472" cy="5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960"/>
                </a:lnSpc>
              </a:pPr>
              <a:r>
                <a:rPr lang="en-US" altLang="zh-CN" sz="2400" b="1">
                  <a:solidFill>
                    <a:srgbClr val="44546A"/>
                  </a:solidFill>
                  <a:latin typeface="Times New Roman" panose="02020603050405020304" pitchFamily="18" charset="0"/>
                  <a:ea typeface="思源黑体-超粗体" panose="020B0A00000000000000" charset="-122"/>
                  <a:cs typeface="Times New Roman" panose="02020603050405020304" pitchFamily="18" charset="0"/>
                  <a:sym typeface="思源黑体-超粗体" panose="020B0A00000000000000" charset="-122"/>
                </a:rPr>
                <a:t>"Intelligent Channels + Precise Combination"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14921" y="5011"/>
              <a:ext cx="153" cy="204"/>
              <a:chOff x="-654004" y="-1600267"/>
              <a:chExt cx="129189" cy="17294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-654004" y="-1600267"/>
                <a:ext cx="129189" cy="172947"/>
              </a:xfrm>
              <a:custGeom>
                <a:avLst/>
                <a:gdLst/>
                <a:ahLst/>
                <a:cxnLst/>
                <a:rect l="l" t="t" r="r" b="b"/>
                <a:pathLst>
                  <a:path w="188214" h="188214">
                    <a:moveTo>
                      <a:pt x="0" y="94107"/>
                    </a:moveTo>
                    <a:cubicBezTo>
                      <a:pt x="0" y="42164"/>
                      <a:pt x="42164" y="0"/>
                      <a:pt x="94107" y="0"/>
                    </a:cubicBezTo>
                    <a:cubicBezTo>
                      <a:pt x="146050" y="0"/>
                      <a:pt x="188214" y="42164"/>
                      <a:pt x="188214" y="94107"/>
                    </a:cubicBezTo>
                    <a:cubicBezTo>
                      <a:pt x="188214" y="146050"/>
                      <a:pt x="146050" y="188214"/>
                      <a:pt x="94107" y="188214"/>
                    </a:cubicBezTo>
                    <a:cubicBezTo>
                      <a:pt x="42164" y="188214"/>
                      <a:pt x="0" y="146050"/>
                      <a:pt x="0" y="94107"/>
                    </a:cubicBezTo>
                    <a:close/>
                  </a:path>
                </a:pathLst>
              </a:custGeom>
              <a:solidFill>
                <a:srgbClr val="014EFE"/>
              </a:solidFill>
            </p:spPr>
            <p:txBody>
              <a:bodyPr/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501015" y="303230"/>
            <a:ext cx="8642985" cy="9232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altLang="zh-CN" sz="6000" b="1" dirty="0">
                <a:solidFill>
                  <a:srgbClr val="000000"/>
                </a:solidFill>
                <a:latin typeface="Times New Roman" panose="02020603050405020304" pitchFamily="18" charset="0"/>
                <a:ea typeface="Montserrat Ultra-Bold" panose="00000900000000000000"/>
                <a:cs typeface="Times New Roman" panose="02020603050405020304" pitchFamily="18" charset="0"/>
                <a:sym typeface="Montserrat Ultra-Bold" panose="00000900000000000000"/>
              </a:rPr>
              <a:t>RECOMMENDATIONS</a:t>
            </a:r>
          </a:p>
        </p:txBody>
      </p:sp>
      <p:sp>
        <p:nvSpPr>
          <p:cNvPr id="90" name="Freeform 48"/>
          <p:cNvSpPr/>
          <p:nvPr/>
        </p:nvSpPr>
        <p:spPr>
          <a:xfrm>
            <a:off x="11201400" y="4305300"/>
            <a:ext cx="179999" cy="180000"/>
          </a:xfrm>
          <a:custGeom>
            <a:avLst/>
            <a:gdLst/>
            <a:ahLst/>
            <a:cxnLst/>
            <a:rect l="l" t="t" r="r" b="b"/>
            <a:pathLst>
              <a:path w="188214" h="188214">
                <a:moveTo>
                  <a:pt x="0" y="94107"/>
                </a:moveTo>
                <a:cubicBezTo>
                  <a:pt x="0" y="42164"/>
                  <a:pt x="42164" y="0"/>
                  <a:pt x="94107" y="0"/>
                </a:cubicBezTo>
                <a:cubicBezTo>
                  <a:pt x="146050" y="0"/>
                  <a:pt x="188214" y="42164"/>
                  <a:pt x="188214" y="94107"/>
                </a:cubicBezTo>
                <a:cubicBezTo>
                  <a:pt x="188214" y="146050"/>
                  <a:pt x="146050" y="188214"/>
                  <a:pt x="94107" y="188214"/>
                </a:cubicBezTo>
                <a:cubicBezTo>
                  <a:pt x="42164" y="188214"/>
                  <a:pt x="0" y="146050"/>
                  <a:pt x="0" y="94107"/>
                </a:cubicBezTo>
                <a:close/>
              </a:path>
            </a:pathLst>
          </a:custGeom>
          <a:solidFill>
            <a:srgbClr val="014EFE"/>
          </a:solidFill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Freeform 48"/>
          <p:cNvSpPr/>
          <p:nvPr/>
        </p:nvSpPr>
        <p:spPr>
          <a:xfrm>
            <a:off x="11201400" y="7505700"/>
            <a:ext cx="179999" cy="180000"/>
          </a:xfrm>
          <a:custGeom>
            <a:avLst/>
            <a:gdLst/>
            <a:ahLst/>
            <a:cxnLst/>
            <a:rect l="l" t="t" r="r" b="b"/>
            <a:pathLst>
              <a:path w="188214" h="188214">
                <a:moveTo>
                  <a:pt x="0" y="94107"/>
                </a:moveTo>
                <a:cubicBezTo>
                  <a:pt x="0" y="42164"/>
                  <a:pt x="42164" y="0"/>
                  <a:pt x="94107" y="0"/>
                </a:cubicBezTo>
                <a:cubicBezTo>
                  <a:pt x="146050" y="0"/>
                  <a:pt x="188214" y="42164"/>
                  <a:pt x="188214" y="94107"/>
                </a:cubicBezTo>
                <a:cubicBezTo>
                  <a:pt x="188214" y="146050"/>
                  <a:pt x="146050" y="188214"/>
                  <a:pt x="94107" y="188214"/>
                </a:cubicBezTo>
                <a:cubicBezTo>
                  <a:pt x="42164" y="188214"/>
                  <a:pt x="0" y="146050"/>
                  <a:pt x="0" y="94107"/>
                </a:cubicBezTo>
                <a:close/>
              </a:path>
            </a:pathLst>
          </a:custGeom>
          <a:solidFill>
            <a:srgbClr val="014EFE"/>
          </a:solidFill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2" name="Group 15"/>
          <p:cNvGrpSpPr/>
          <p:nvPr/>
        </p:nvGrpSpPr>
        <p:grpSpPr>
          <a:xfrm>
            <a:off x="941840" y="7886700"/>
            <a:ext cx="141189" cy="141189"/>
            <a:chOff x="0" y="0"/>
            <a:chExt cx="188252" cy="188252"/>
          </a:xfrm>
        </p:grpSpPr>
        <p:sp>
          <p:nvSpPr>
            <p:cNvPr id="93" name="Freeform 16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4" name="Group 15"/>
          <p:cNvGrpSpPr/>
          <p:nvPr/>
        </p:nvGrpSpPr>
        <p:grpSpPr>
          <a:xfrm>
            <a:off x="941868" y="6357395"/>
            <a:ext cx="141189" cy="141189"/>
            <a:chOff x="0" y="0"/>
            <a:chExt cx="188252" cy="188252"/>
          </a:xfrm>
        </p:grpSpPr>
        <p:sp>
          <p:nvSpPr>
            <p:cNvPr id="95" name="Freeform 16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6" name="Group 15"/>
          <p:cNvGrpSpPr/>
          <p:nvPr/>
        </p:nvGrpSpPr>
        <p:grpSpPr>
          <a:xfrm>
            <a:off x="920005" y="4596526"/>
            <a:ext cx="141189" cy="141189"/>
            <a:chOff x="0" y="0"/>
            <a:chExt cx="188252" cy="188252"/>
          </a:xfrm>
        </p:grpSpPr>
        <p:sp>
          <p:nvSpPr>
            <p:cNvPr id="97" name="Freeform 16"/>
            <p:cNvSpPr/>
            <p:nvPr/>
          </p:nvSpPr>
          <p:spPr>
            <a:xfrm>
              <a:off x="0" y="0"/>
              <a:ext cx="188214" cy="188214"/>
            </a:xfrm>
            <a:custGeom>
              <a:avLst/>
              <a:gdLst/>
              <a:ahLst/>
              <a:cxnLst/>
              <a:rect l="l" t="t" r="r" b="b"/>
              <a:pathLst>
                <a:path w="188214" h="188214">
                  <a:moveTo>
                    <a:pt x="0" y="94107"/>
                  </a:moveTo>
                  <a:cubicBezTo>
                    <a:pt x="0" y="42164"/>
                    <a:pt x="42164" y="0"/>
                    <a:pt x="94107" y="0"/>
                  </a:cubicBezTo>
                  <a:cubicBezTo>
                    <a:pt x="146050" y="0"/>
                    <a:pt x="188214" y="42164"/>
                    <a:pt x="188214" y="94107"/>
                  </a:cubicBezTo>
                  <a:cubicBezTo>
                    <a:pt x="188214" y="146050"/>
                    <a:pt x="146050" y="188214"/>
                    <a:pt x="94107" y="188214"/>
                  </a:cubicBezTo>
                  <a:cubicBezTo>
                    <a:pt x="42164" y="188214"/>
                    <a:pt x="0" y="146050"/>
                    <a:pt x="0" y="94107"/>
                  </a:cubicBezTo>
                  <a:close/>
                </a:path>
              </a:pathLst>
            </a:custGeom>
            <a:solidFill>
              <a:srgbClr val="014EFE"/>
            </a:solidFill>
          </p:spPr>
          <p:txBody>
            <a:bodyPr/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1546225" y="2602865"/>
            <a:ext cx="549275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Heat Treatment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Address the frequent occurrence of "Thermoform temperature too high/low" errors in the data by calibrating and upgrading the temperature control systems of all relevant equipment, establishing strict standard operating procedures, and providing retraining for operators.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1546225" y="4457700"/>
            <a:ext cx="5514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Machining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 Address "Drill size too large/small" and "Drill pattern incorrect" errors by introducing more precise measuring tools and a real-time monitoring system, implementing preventative replacement management for drill bit wear rather than reactive replacement.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11753529" y="1664335"/>
            <a:ext cx="52292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Channels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Invest in developing an "Accessory Recommender". When a customer adds a bicycle to their cart, the system will automatically display the most frequently purchased accessories based on Part II market basket analysis data (e.g., "85% of customers who buy this model also purchased this lock and lighting kit"), and provide a one-click function to add all recommended accessories to the cart.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1546225" y="6210300"/>
            <a:ext cx="50546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Targeted advertising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 Target newcomers interested in cycling on social media and search engines, highlighting the convenience of "one-stop shopping"..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546225" y="7778750"/>
            <a:ext cx="50387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optimization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website analytics tools to track which accessories and bicycle combinations have the highest click-through rates and conversion rates, dynamically adjust the package content.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1753529" y="7409180"/>
            <a:ext cx="51625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: Set up "cycling equipment experience zones" in stores, displaying popular bicycle models alongside matching apparel and helmets to create a complete cycling scenario. Train sales staff to promote apparel as essential equipment for "enhancing cycling comfort and safety," rather than simply as an accessory.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11801154" y="4189730"/>
            <a:ext cx="493395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channels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Equip store sales staff with tablets featuring a built-in "High-Value Bundle Sales Assistant." When a customer purchases a bicycle, the system will prompt the salesperson to recommend a higher-profit, all-category bundle, such as: "Based on inventory, you can recommend this bicycle to the customer, paired with our high-end cycling apparel and GPS components. This bundle currently has an exclusive in-store discount."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524</Words>
  <Application>Microsoft Macintosh PowerPoint</Application>
  <PresentationFormat>自定义</PresentationFormat>
  <Paragraphs>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思源黑体-超粗体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蓝色简约商业计划书ppt演示文稿</dc:title>
  <dc:creator/>
  <cp:lastModifiedBy>向瑶 肖</cp:lastModifiedBy>
  <cp:revision>10</cp:revision>
  <dcterms:created xsi:type="dcterms:W3CDTF">2006-08-16T00:00:00Z</dcterms:created>
  <dcterms:modified xsi:type="dcterms:W3CDTF">2025-12-24T06:26:32Z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{"Label":"1","ContentProducer":"001191110105MA01AN806X00000","ProduceID":"DAG4kjnjiWg","ReservedCode1":"","ContentPropagator":"001191110105MA01AN806X00000","PropagateID":"DAG4kjnjiWg","ReservedCode2":""}</vt:lpwstr>
  </property>
  <property fmtid="{D5CDD505-2E9C-101B-9397-08002B2CF9AE}" pid="3" name="ICV">
    <vt:lpwstr>889B20D5A4DC4B50A897C8E64AEB184E_13</vt:lpwstr>
  </property>
  <property fmtid="{D5CDD505-2E9C-101B-9397-08002B2CF9AE}" pid="4" name="KSOProductBuildVer">
    <vt:lpwstr>2052-12.1.0.23542</vt:lpwstr>
  </property>
</Properties>
</file>